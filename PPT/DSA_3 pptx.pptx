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2848fe7-a195-1a2f-4fc9-c4f27a9410c7}">
          <p14:sldIdLst>
            <p14:sldId id="256"/>
            <p14:sldId id="257"/>
            <p14:sldId id="258"/>
          </p14:sldIdLst>
        </p14:section>
        <p14:section name="Background" id="{b88e8f96-3a4c-6128-3c45-8db5728c4edd}">
          <p14:sldIdLst>
            <p14:sldId id="259"/>
            <p14:sldId id="260"/>
          </p14:sldIdLst>
        </p14:section>
        <p14:section name="Method" id="{a27c195d-c704-1ac1-9692-52d0aba5e8a6}">
          <p14:sldIdLst>
            <p14:sldId id="261"/>
            <p14:sldId id="262"/>
            <p14:sldId id="263"/>
          </p14:sldIdLst>
        </p14:section>
        <p14:section name="Implementation" id="{3a236030-4223-1a97-40c2-1ee37d494596}">
          <p14:sldIdLst>
            <p14:sldId id="264"/>
          </p14:sldIdLst>
        </p14:section>
        <p14:section name="Results" id="{125cafcd-e5fb-1d96-406a-befdf115edd8}">
          <p14:sldIdLst>
            <p14:sldId id="265"/>
          </p14:sldIdLst>
        </p14:section>
        <p14:section name="Wrap-up" id="{18eeae06-31a4-8acc-f32c-6e1a4d07eac1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00"/>
              </a:solidFill>
              <a:ln w="9525" cap="flat">
                <a:solidFill>
                  <a:srgbClr val="4A0A1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B2A33"/>
              </a:solidFill>
              <a:ln w="9525" cap="flat">
                <a:solidFill>
                  <a:srgbClr val="4A0A1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Allocated</c:v>
                </c:pt>
                <c:pt idx="1">
                  <c:v>Unmatched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95.2</c:v>
                </c:pt>
                <c:pt idx="1">
                  <c:v>4.8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guide. Replace 'Dr. Faculty Name' with the guide's actual name and designation.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short sections. Roughly one to two minutes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whole project in 30 seconds: what we assign, how we model it, and the headline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pain points of manual allocation with what an automated matching system gives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building blocks from the literature. Stress that Hopcroft-Karp and Hungarian are the two we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input, the objective function and the three hard constraints. The goal is what we measure in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phases left to right, then compare the two complexity bounds.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example: six students and three labs with capacity two. Solid crimson edges are the final matching; dashed edges are other acceptable preferences.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with NetworkX is the primary stack; C++ is the alternative if raw speed matters. SQLite scales up to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setup: 1,000 students across 50 lab sessions. Highlight the 95.2% success rate and the 245 ms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method works, scales, and is ready to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extensions, from ML-driven preference prediction to a cross-institution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47472"/>
            <a:ext cx="1188720" cy="5093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DSA-3  |  Automated Student-to-Lab Allocation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DSA-3  |  Automated Student-to-Lab Allocation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panel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Dot spiral" descr="Decorative dotted spiral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7818120" y="2487168"/>
            <a:ext cx="4373575" cy="4373575"/>
          </a:xfrm>
          <a:prstGeom prst="rect">
            <a:avLst/>
          </a:prstGeom>
        </p:spPr>
      </p:pic>
      <p:pic>
        <p:nvPicPr>
          <p:cNvPr id="4" name="KLU logo" descr="KL Universit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502920"/>
            <a:ext cx="3291840" cy="141091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3667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6" name="Member card 1"/>
          <p:cNvSpPr/>
          <p:nvPr/>
        </p:nvSpPr>
        <p:spPr>
          <a:xfrm>
            <a:off x="8366760" y="3017520"/>
            <a:ext cx="32918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54964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Yashwanth Sai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549640" y="342900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2520030036</a:t>
            </a:r>
            <a:endParaRPr lang="en-US" sz="1400" dirty="0"/>
          </a:p>
        </p:txBody>
      </p:sp>
      <p:sp>
        <p:nvSpPr>
          <p:cNvPr id="9" name="Member card 2"/>
          <p:cNvSpPr/>
          <p:nvPr/>
        </p:nvSpPr>
        <p:spPr>
          <a:xfrm>
            <a:off x="8366760" y="3886200"/>
            <a:ext cx="32918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54964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Dhanvin Gupta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549640" y="429768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2520030604</a:t>
            </a:r>
            <a:endParaRPr lang="en-US" sz="1400" dirty="0"/>
          </a:p>
        </p:txBody>
      </p:sp>
      <p:sp>
        <p:nvSpPr>
          <p:cNvPr id="12" name="Member card 3"/>
          <p:cNvSpPr/>
          <p:nvPr/>
        </p:nvSpPr>
        <p:spPr>
          <a:xfrm>
            <a:off x="8366760" y="4754880"/>
            <a:ext cx="32918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549640" y="4864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Naga Pranadeep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549640" y="51663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2520030390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777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DATA STRUCTURES AND ALGORITHMS - 3  |  25CS2103E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141732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Student-to-Laboratory Allocation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383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Maximum Bipartite Matching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48463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Under the esteemed guidance of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Dr. Faculty Name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Department of Computer Science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 will cover</a:t>
            </a:r>
            <a:endParaRPr lang="en-US" sz="3400" dirty="0"/>
          </a:p>
        </p:txBody>
      </p:sp>
      <p:sp>
        <p:nvSpPr>
          <p:cNvPr id="3" name="Agenda card 1"/>
          <p:cNvSpPr/>
          <p:nvPr/>
        </p:nvSpPr>
        <p:spPr>
          <a:xfrm>
            <a:off x="548640" y="150876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Agenda number 1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5506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Abstract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project at a glance</a:t>
            </a:r>
            <a:endParaRPr lang="en-US" sz="1400" dirty="0"/>
          </a:p>
        </p:txBody>
      </p:sp>
      <p:sp>
        <p:nvSpPr>
          <p:cNvPr id="8" name="Agenda card 2"/>
          <p:cNvSpPr/>
          <p:nvPr/>
        </p:nvSpPr>
        <p:spPr>
          <a:xfrm>
            <a:off x="6231636" y="150876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Agenda number 2"/>
          <p:cNvSpPr/>
          <p:nvPr/>
        </p:nvSpPr>
        <p:spPr>
          <a:xfrm>
            <a:off x="6460236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023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91756" y="165506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Introduction &amp; Motivation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91756" y="201168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Why manual allocation fails</a:t>
            </a:r>
            <a:endParaRPr lang="en-US" sz="1400" dirty="0"/>
          </a:p>
        </p:txBody>
      </p:sp>
      <p:sp>
        <p:nvSpPr>
          <p:cNvPr id="13" name="Agenda card 3"/>
          <p:cNvSpPr/>
          <p:nvPr/>
        </p:nvSpPr>
        <p:spPr>
          <a:xfrm>
            <a:off x="548640" y="260604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Agenda number 3"/>
          <p:cNvSpPr/>
          <p:nvPr/>
        </p:nvSpPr>
        <p:spPr>
          <a:xfrm>
            <a:off x="777240" y="2788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75234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Literature Survey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10896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Algorithms we build on</a:t>
            </a:r>
            <a:endParaRPr lang="en-US" sz="1400" dirty="0"/>
          </a:p>
        </p:txBody>
      </p:sp>
      <p:sp>
        <p:nvSpPr>
          <p:cNvPr id="18" name="Agenda card 4"/>
          <p:cNvSpPr/>
          <p:nvPr/>
        </p:nvSpPr>
        <p:spPr>
          <a:xfrm>
            <a:off x="6231636" y="260604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9" name="Agenda number 4"/>
          <p:cNvSpPr/>
          <p:nvPr/>
        </p:nvSpPr>
        <p:spPr>
          <a:xfrm>
            <a:off x="6460236" y="2788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0236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91756" y="275234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91756" y="310896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Inputs, objective, constraints</a:t>
            </a:r>
            <a:endParaRPr lang="en-US" sz="1400" dirty="0"/>
          </a:p>
        </p:txBody>
      </p:sp>
      <p:sp>
        <p:nvSpPr>
          <p:cNvPr id="23" name="Agenda card 5"/>
          <p:cNvSpPr/>
          <p:nvPr/>
        </p:nvSpPr>
        <p:spPr>
          <a:xfrm>
            <a:off x="548640" y="370332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4" name="Agenda number 5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384962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Algorithm &amp; Approach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20624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Four phases and complexity</a:t>
            </a:r>
            <a:endParaRPr lang="en-US" sz="1400" dirty="0"/>
          </a:p>
        </p:txBody>
      </p:sp>
      <p:sp>
        <p:nvSpPr>
          <p:cNvPr id="28" name="Agenda card 6"/>
          <p:cNvSpPr/>
          <p:nvPr/>
        </p:nvSpPr>
        <p:spPr>
          <a:xfrm>
            <a:off x="6231636" y="370332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9" name="Agenda number 6"/>
          <p:cNvSpPr/>
          <p:nvPr/>
        </p:nvSpPr>
        <p:spPr>
          <a:xfrm>
            <a:off x="6460236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60236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191756" y="384962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Implementation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91756" y="420624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Tools and technology stack</a:t>
            </a:r>
            <a:endParaRPr lang="en-US" sz="1400" dirty="0"/>
          </a:p>
        </p:txBody>
      </p:sp>
      <p:sp>
        <p:nvSpPr>
          <p:cNvPr id="33" name="Agenda card 7"/>
          <p:cNvSpPr/>
          <p:nvPr/>
        </p:nvSpPr>
        <p:spPr>
          <a:xfrm>
            <a:off x="548640" y="480060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4" name="Agenda number 7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508760" y="494690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Results &amp; Analysis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508760" y="530352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Performance on 1,000 students</a:t>
            </a:r>
            <a:endParaRPr lang="en-US" sz="1400" dirty="0"/>
          </a:p>
        </p:txBody>
      </p:sp>
      <p:sp>
        <p:nvSpPr>
          <p:cNvPr id="38" name="Agenda card 8"/>
          <p:cNvSpPr/>
          <p:nvPr/>
        </p:nvSpPr>
        <p:spPr>
          <a:xfrm>
            <a:off x="6231636" y="4800600"/>
            <a:ext cx="54086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9" name="Agenda number 8"/>
          <p:cNvSpPr/>
          <p:nvPr/>
        </p:nvSpPr>
        <p:spPr>
          <a:xfrm>
            <a:off x="6460236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60236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7191756" y="4946904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Conclusion &amp; Future Scope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191756" y="530352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Takeaways and next steps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Abstract</a:t>
            </a:r>
            <a:endParaRPr lang="en-US" sz="3400" dirty="0"/>
          </a:p>
        </p:txBody>
      </p:sp>
      <p:sp>
        <p:nvSpPr>
          <p:cNvPr id="3" name="Abstract panel"/>
          <p:cNvSpPr/>
          <p:nvPr/>
        </p:nvSpPr>
        <p:spPr>
          <a:xfrm>
            <a:off x="548640" y="1508760"/>
            <a:ext cx="4114800" cy="4572000"/>
          </a:xfrm>
          <a:prstGeom prst="roundRect">
            <a:avLst>
              <a:gd name="adj" fmla="val 2667"/>
            </a:avLst>
          </a:prstGeom>
          <a:solidFill>
            <a:schemeClr val="accent4"/>
          </a:solidFill>
          <a:ln/>
        </p:spPr>
      </p:sp>
      <p:sp>
        <p:nvSpPr>
          <p:cNvPr id="4" name="Graph icon circle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5" name="Graph icon" descr="Grap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8803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Fair, fast, automatic lab allocation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572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Graph theory and optimization, applied to large student populations.</a:t>
            </a:r>
            <a:endParaRPr lang="en-US" sz="1600" dirty="0"/>
          </a:p>
        </p:txBody>
      </p:sp>
      <p:sp>
        <p:nvSpPr>
          <p:cNvPr id="8" name="Abstract row 1"/>
          <p:cNvSpPr/>
          <p:nvPr/>
        </p:nvSpPr>
        <p:spPr>
          <a:xfrm>
            <a:off x="4937760" y="1508760"/>
            <a:ext cx="670255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Objective icon circle"/>
          <p:cNvSpPr/>
          <p:nvPr/>
        </p:nvSpPr>
        <p:spPr>
          <a:xfrm>
            <a:off x="5166360" y="1737360"/>
            <a:ext cx="548640" cy="54864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10" name="Objective icon" descr="Objectiv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74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0" y="161848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Objective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1920240"/>
            <a:ext cx="5513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Assign every student to exactly one lab slot while optimizing preferences and respecting capacity.</a:t>
            </a:r>
            <a:endParaRPr lang="en-US" sz="1400" dirty="0"/>
          </a:p>
        </p:txBody>
      </p:sp>
      <p:sp>
        <p:nvSpPr>
          <p:cNvPr id="13" name="Abstract row 2"/>
          <p:cNvSpPr/>
          <p:nvPr/>
        </p:nvSpPr>
        <p:spPr>
          <a:xfrm>
            <a:off x="4937760" y="2697480"/>
            <a:ext cx="670255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Approach icon circle"/>
          <p:cNvSpPr/>
          <p:nvPr/>
        </p:nvSpPr>
        <p:spPr>
          <a:xfrm>
            <a:off x="5166360" y="2926080"/>
            <a:ext cx="548640" cy="54864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15" name="Approach icon" descr="Approa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063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43600" y="280720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Approach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943600" y="3108960"/>
            <a:ext cx="5513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as a weighted bipartite graph, then find a maximum matching with augmenting paths (Hopcroft-Karp / Hungarian).</a:t>
            </a:r>
            <a:endParaRPr lang="en-US" sz="1400" dirty="0"/>
          </a:p>
        </p:txBody>
      </p:sp>
      <p:sp>
        <p:nvSpPr>
          <p:cNvPr id="18" name="Abstract row 3"/>
          <p:cNvSpPr/>
          <p:nvPr/>
        </p:nvSpPr>
        <p:spPr>
          <a:xfrm>
            <a:off x="4937760" y="3886200"/>
            <a:ext cx="670255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9" name="Constraints icon circle"/>
          <p:cNvSpPr/>
          <p:nvPr/>
        </p:nvSpPr>
        <p:spPr>
          <a:xfrm>
            <a:off x="5166360" y="4114800"/>
            <a:ext cx="548640" cy="54864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20" name="Constraints icon" descr="Constraint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42519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43600" y="399592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Constraints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0" y="4297680"/>
            <a:ext cx="5513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 capacity limits, time conflicts, skill prerequisites and individual student preferences.</a:t>
            </a:r>
            <a:endParaRPr lang="en-US" sz="1400" dirty="0"/>
          </a:p>
        </p:txBody>
      </p:sp>
      <p:sp>
        <p:nvSpPr>
          <p:cNvPr id="23" name="Abstract row 4"/>
          <p:cNvSpPr/>
          <p:nvPr/>
        </p:nvSpPr>
        <p:spPr>
          <a:xfrm>
            <a:off x="4937760" y="5074920"/>
            <a:ext cx="670255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4" name="Outcome icon circle"/>
          <p:cNvSpPr/>
          <p:nvPr/>
        </p:nvSpPr>
        <p:spPr>
          <a:xfrm>
            <a:off x="5166360" y="5303520"/>
            <a:ext cx="548640" cy="54864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25" name="Outcome icon" descr="Outcom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54406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0" y="518464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Outcome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0" y="5486400"/>
            <a:ext cx="5513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95.2% allocation success and 8.7/10 satisfaction, in 245 ms for 1,000 students.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automate lab allocation?</a:t>
            </a:r>
            <a:endParaRPr lang="en-US" sz="3400" dirty="0"/>
          </a:p>
        </p:txBody>
      </p:sp>
      <p:sp>
        <p:nvSpPr>
          <p:cNvPr id="3" name="Manual column"/>
          <p:cNvSpPr/>
          <p:nvPr/>
        </p:nvSpPr>
        <p:spPr>
          <a:xfrm>
            <a:off x="548640" y="1508760"/>
            <a:ext cx="5362956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Automated column"/>
          <p:cNvSpPr/>
          <p:nvPr/>
        </p:nvSpPr>
        <p:spPr>
          <a:xfrm>
            <a:off x="6277356" y="1508760"/>
            <a:ext cx="5362956" cy="4572000"/>
          </a:xfrm>
          <a:prstGeom prst="roundRect">
            <a:avLst>
              <a:gd name="adj" fmla="val 24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</a:rPr>
              <a:t>TODAY: MANUAL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43116" y="173736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PROPOSED: AUTOMATED</a:t>
            </a:r>
            <a:endParaRPr lang="en-US" sz="1400" dirty="0"/>
          </a:p>
        </p:txBody>
      </p:sp>
      <p:sp>
        <p:nvSpPr>
          <p:cNvPr id="7" name="Problem 1 circle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EBD3D6"/>
          </a:solidFill>
          <a:ln/>
        </p:spPr>
      </p:sp>
      <p:pic>
        <p:nvPicPr>
          <p:cNvPr id="8" name="Problem 1" descr="Probl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4460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240280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Manual allocation is slow, error-prone and hard to scale</a:t>
            </a:r>
            <a:endParaRPr lang="en-US" sz="1600" dirty="0"/>
          </a:p>
        </p:txBody>
      </p:sp>
      <p:sp>
        <p:nvSpPr>
          <p:cNvPr id="10" name="Benefit 1 circle"/>
          <p:cNvSpPr/>
          <p:nvPr/>
        </p:nvSpPr>
        <p:spPr>
          <a:xfrm>
            <a:off x="6643116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Benefit 1" descr="Benefit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4460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3196" y="2240280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Fair distribution, measured with clear metrics</a:t>
            </a:r>
            <a:endParaRPr lang="en-US" sz="1600" dirty="0"/>
          </a:p>
        </p:txBody>
      </p:sp>
      <p:sp>
        <p:nvSpPr>
          <p:cNvPr id="13" name="Problem 2 circle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EBD3D6"/>
          </a:solidFill>
          <a:ln/>
        </p:spPr>
      </p:sp>
      <p:pic>
        <p:nvPicPr>
          <p:cNvPr id="14" name="Problem 2" descr="Problem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3787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172968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Students have diverse preferences: timings, subjects, instructors, peers</a:t>
            </a:r>
            <a:endParaRPr lang="en-US" sz="1600" dirty="0"/>
          </a:p>
        </p:txBody>
      </p:sp>
      <p:sp>
        <p:nvSpPr>
          <p:cNvPr id="16" name="Benefit 2 circle"/>
          <p:cNvSpPr/>
          <p:nvPr/>
        </p:nvSpPr>
        <p:spPr>
          <a:xfrm>
            <a:off x="6643116" y="32644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Benefit 2" descr="Benefit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337870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83196" y="3172968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Transparent, auditable allocation outcomes</a:t>
            </a:r>
            <a:endParaRPr lang="en-US" sz="1600" dirty="0"/>
          </a:p>
        </p:txBody>
      </p:sp>
      <p:sp>
        <p:nvSpPr>
          <p:cNvPr id="19" name="Problem 3 circle"/>
          <p:cNvSpPr/>
          <p:nvPr/>
        </p:nvSpPr>
        <p:spPr>
          <a:xfrm>
            <a:off x="914400" y="4197096"/>
            <a:ext cx="457200" cy="457200"/>
          </a:xfrm>
          <a:prstGeom prst="ellipse">
            <a:avLst/>
          </a:prstGeom>
          <a:solidFill>
            <a:srgbClr val="EBD3D6"/>
          </a:solidFill>
          <a:ln/>
        </p:spPr>
      </p:sp>
      <p:pic>
        <p:nvPicPr>
          <p:cNvPr id="20" name="Problem 3" descr="Problem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311396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54480" y="4105656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Labs have limited capacity, schedules and equipment</a:t>
            </a:r>
            <a:endParaRPr lang="en-US" sz="1600" dirty="0"/>
          </a:p>
        </p:txBody>
      </p:sp>
      <p:sp>
        <p:nvSpPr>
          <p:cNvPr id="22" name="Benefit 3 circle"/>
          <p:cNvSpPr/>
          <p:nvPr/>
        </p:nvSpPr>
        <p:spPr>
          <a:xfrm>
            <a:off x="6643116" y="4197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Benefit 3" descr="Benefit 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311396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283196" y="4105656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Maximizes overall student satisfaction</a:t>
            </a:r>
            <a:endParaRPr lang="en-US" sz="1600" dirty="0"/>
          </a:p>
        </p:txBody>
      </p:sp>
      <p:sp>
        <p:nvSpPr>
          <p:cNvPr id="25" name="Problem 4 circle"/>
          <p:cNvSpPr/>
          <p:nvPr/>
        </p:nvSpPr>
        <p:spPr>
          <a:xfrm>
            <a:off x="914400" y="5129784"/>
            <a:ext cx="457200" cy="457200"/>
          </a:xfrm>
          <a:prstGeom prst="ellipse">
            <a:avLst/>
          </a:prstGeom>
          <a:solidFill>
            <a:srgbClr val="EBD3D6"/>
          </a:solidFill>
          <a:ln/>
        </p:spPr>
      </p:sp>
      <p:pic>
        <p:nvPicPr>
          <p:cNvPr id="26" name="Problem 4" descr="Problem 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5244084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554480" y="5038344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transparency or fairness metrics in current systems</a:t>
            </a:r>
            <a:endParaRPr lang="en-US" sz="1600" dirty="0"/>
          </a:p>
        </p:txBody>
      </p:sp>
      <p:sp>
        <p:nvSpPr>
          <p:cNvPr id="28" name="Benefit 4 circle"/>
          <p:cNvSpPr/>
          <p:nvPr/>
        </p:nvSpPr>
        <p:spPr>
          <a:xfrm>
            <a:off x="6643116" y="51297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Benefit 4" descr="Benefit 4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416" y="5244084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283196" y="5038344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Handles capacity and time constraints automatically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Literature survey</a:t>
            </a:r>
            <a:endParaRPr lang="en-US" sz="3400" dirty="0"/>
          </a:p>
        </p:txBody>
      </p:sp>
      <p:sp>
        <p:nvSpPr>
          <p:cNvPr id="3" name="Literature card 1"/>
          <p:cNvSpPr/>
          <p:nvPr/>
        </p:nvSpPr>
        <p:spPr>
          <a:xfrm>
            <a:off x="548640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Bipartite Matching icon circle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5" name="Bipartite Matching icon" descr="Bipartite Match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316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Bipartite Matching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Fundamental graph algorithm for pairing two disjoint sets of vertices.</a:t>
            </a:r>
            <a:endParaRPr lang="en-US" sz="1400" dirty="0"/>
          </a:p>
        </p:txBody>
      </p:sp>
      <p:sp>
        <p:nvSpPr>
          <p:cNvPr id="8" name="Literature card 2"/>
          <p:cNvSpPr/>
          <p:nvPr/>
        </p:nvSpPr>
        <p:spPr>
          <a:xfrm>
            <a:off x="4337304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Hungarian Algorithm icon circle"/>
          <p:cNvSpPr/>
          <p:nvPr/>
        </p:nvSpPr>
        <p:spPr>
          <a:xfrm>
            <a:off x="4611624" y="1783080"/>
            <a:ext cx="594360" cy="59436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10" name="Hungarian Algorithm icon" descr="Hungarian Algorith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214" y="19316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1624" y="251460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Hungarian Algorithm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8803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Classic O(n³) solution for maximum weighted matching in assignment problems.</a:t>
            </a:r>
            <a:endParaRPr lang="en-US" sz="1400" dirty="0"/>
          </a:p>
        </p:txBody>
      </p:sp>
      <p:sp>
        <p:nvSpPr>
          <p:cNvPr id="13" name="Literature card 3"/>
          <p:cNvSpPr/>
          <p:nvPr/>
        </p:nvSpPr>
        <p:spPr>
          <a:xfrm>
            <a:off x="8125968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Hall's Marriage Theorem icon circle"/>
          <p:cNvSpPr/>
          <p:nvPr/>
        </p:nvSpPr>
        <p:spPr>
          <a:xfrm>
            <a:off x="8400288" y="1783080"/>
            <a:ext cx="594360" cy="59436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15" name="Hall's Marriage Theorem icon" descr="Hall's Marriage Theore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878" y="19316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0288" y="251460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Hall's Marriage Theorem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8803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Necessary and sufficient conditions for a perfect matching in a bipartite graph.</a:t>
            </a:r>
            <a:endParaRPr lang="en-US" sz="1400" dirty="0"/>
          </a:p>
        </p:txBody>
      </p:sp>
      <p:sp>
        <p:nvSpPr>
          <p:cNvPr id="18" name="Literature card 4"/>
          <p:cNvSpPr/>
          <p:nvPr/>
        </p:nvSpPr>
        <p:spPr>
          <a:xfrm>
            <a:off x="548640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9" name="Maximum Flow icon circle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20" name="Maximum Flow icon" descr="Maximum Flow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5483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377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Maximum Flow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0352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Ford-Fulkerson and Dinic's algorithm enable efficient large-scale matching.</a:t>
            </a:r>
            <a:endParaRPr lang="en-US" sz="1400" dirty="0"/>
          </a:p>
        </p:txBody>
      </p:sp>
      <p:sp>
        <p:nvSpPr>
          <p:cNvPr id="23" name="Literature card 5"/>
          <p:cNvSpPr/>
          <p:nvPr/>
        </p:nvSpPr>
        <p:spPr>
          <a:xfrm>
            <a:off x="4337304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4" name="Preference-based Models icon circle"/>
          <p:cNvSpPr/>
          <p:nvPr/>
        </p:nvSpPr>
        <p:spPr>
          <a:xfrm>
            <a:off x="4611624" y="4206240"/>
            <a:ext cx="594360" cy="59436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25" name="Preference-based Models icon" descr="Preference-based Model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214" y="435483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1624" y="49377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Preference-based Models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1624" y="530352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Recent fairness-aware approaches balance satisfaction against constraints.</a:t>
            </a:r>
            <a:endParaRPr lang="en-US" sz="1400" dirty="0"/>
          </a:p>
        </p:txBody>
      </p:sp>
      <p:sp>
        <p:nvSpPr>
          <p:cNvPr id="28" name="Literature card 6"/>
          <p:cNvSpPr/>
          <p:nvPr/>
        </p:nvSpPr>
        <p:spPr>
          <a:xfrm>
            <a:off x="8125968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9" name="Real-world Uses icon circle"/>
          <p:cNvSpPr/>
          <p:nvPr/>
        </p:nvSpPr>
        <p:spPr>
          <a:xfrm>
            <a:off x="8400288" y="4206240"/>
            <a:ext cx="594360" cy="59436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30" name="Real-world Uses icon" descr="Real-world Use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878" y="435483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00288" y="49377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Real-world Uses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00288" y="530352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 placement, course allocation, room scheduling and lab session management.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Input card"/>
          <p:cNvSpPr/>
          <p:nvPr/>
        </p:nvSpPr>
        <p:spPr>
          <a:xfrm>
            <a:off x="548640" y="1508760"/>
            <a:ext cx="56692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INPUT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Students S and lab sessions L with capacity c(l)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Preference score p(s, l) for every student-session pair</a:t>
            </a:r>
            <a:endParaRPr lang="en-US" sz="1600" dirty="0"/>
          </a:p>
        </p:txBody>
      </p:sp>
      <p:sp>
        <p:nvSpPr>
          <p:cNvPr id="6" name="Objective card"/>
          <p:cNvSpPr/>
          <p:nvPr/>
        </p:nvSpPr>
        <p:spPr>
          <a:xfrm>
            <a:off x="548640" y="3291840"/>
            <a:ext cx="5669280" cy="1600200"/>
          </a:xfrm>
          <a:prstGeom prst="roundRect">
            <a:avLst>
              <a:gd name="adj" fmla="val 6857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maximize  Σ p(s, l)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over all matched (student, session) pairs</a:t>
            </a:r>
            <a:endParaRPr lang="en-US" sz="1400" dirty="0"/>
          </a:p>
        </p:txBody>
      </p:sp>
      <p:sp>
        <p:nvSpPr>
          <p:cNvPr id="10" name="Constraints card"/>
          <p:cNvSpPr/>
          <p:nvPr/>
        </p:nvSpPr>
        <p:spPr>
          <a:xfrm>
            <a:off x="6492240" y="1508760"/>
            <a:ext cx="5148072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CONSTRAINTS</a:t>
            </a:r>
            <a:endParaRPr lang="en-US" sz="1200" dirty="0"/>
          </a:p>
        </p:txBody>
      </p:sp>
      <p:sp>
        <p:nvSpPr>
          <p:cNvPr id="12" name="Constraint number 1"/>
          <p:cNvSpPr/>
          <p:nvPr/>
        </p:nvSpPr>
        <p:spPr>
          <a:xfrm>
            <a:off x="681228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148840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student is allocated to exactly one lab session</a:t>
            </a:r>
            <a:endParaRPr lang="en-US" sz="1600" dirty="0"/>
          </a:p>
        </p:txBody>
      </p:sp>
      <p:sp>
        <p:nvSpPr>
          <p:cNvPr id="15" name="Constraint number 2"/>
          <p:cNvSpPr/>
          <p:nvPr/>
        </p:nvSpPr>
        <p:spPr>
          <a:xfrm>
            <a:off x="6812280" y="30906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044952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lab exceeds its capacity</a:t>
            </a:r>
            <a:endParaRPr lang="en-US" sz="1600" dirty="0"/>
          </a:p>
        </p:txBody>
      </p:sp>
      <p:sp>
        <p:nvSpPr>
          <p:cNvPr id="18" name="Constraint number 3"/>
          <p:cNvSpPr/>
          <p:nvPr/>
        </p:nvSpPr>
        <p:spPr>
          <a:xfrm>
            <a:off x="6812280" y="39867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941064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Time conflicts are respected</a:t>
            </a:r>
            <a:endParaRPr lang="en-US" sz="1600" dirty="0"/>
          </a:p>
        </p:txBody>
      </p:sp>
      <p:sp>
        <p:nvSpPr>
          <p:cNvPr id="21" name="Goal banner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22" name="Goal icon circle"/>
          <p:cNvSpPr/>
          <p:nvPr/>
        </p:nvSpPr>
        <p:spPr>
          <a:xfrm>
            <a:off x="868680" y="5321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Goal icon" descr="Goa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5896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645920" y="5120640"/>
            <a:ext cx="9720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Goal: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ensure fairness, minimize allocation conflicts, and reach a near 100% placement success rate.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Algorithm &amp; approach</a:t>
            </a:r>
            <a:endParaRPr lang="en-US" sz="3400" dirty="0"/>
          </a:p>
        </p:txBody>
      </p:sp>
      <p:sp>
        <p:nvSpPr>
          <p:cNvPr id="3" name="Phase card 1"/>
          <p:cNvSpPr/>
          <p:nvPr/>
        </p:nvSpPr>
        <p:spPr>
          <a:xfrm>
            <a:off x="548640" y="1508760"/>
            <a:ext cx="2464308" cy="3017520"/>
          </a:xfrm>
          <a:prstGeom prst="roundRect">
            <a:avLst>
              <a:gd name="adj" fmla="val 445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hase number 1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191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Graph Construction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19156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bipartite graph: students on the left, lab slots on the right, weighted preference edges.</a:t>
            </a:r>
            <a:endParaRPr lang="en-US" sz="1400" dirty="0"/>
          </a:p>
        </p:txBody>
      </p:sp>
      <p:pic>
        <p:nvPicPr>
          <p:cNvPr id="8" name="Arrow 1" descr="Next ph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4388" y="2834640"/>
            <a:ext cx="228600" cy="228600"/>
          </a:xfrm>
          <a:prstGeom prst="rect">
            <a:avLst/>
          </a:prstGeom>
        </p:spPr>
      </p:pic>
      <p:sp>
        <p:nvSpPr>
          <p:cNvPr id="9" name="Phase card 2"/>
          <p:cNvSpPr/>
          <p:nvPr/>
        </p:nvSpPr>
        <p:spPr>
          <a:xfrm>
            <a:off x="3424428" y="1508760"/>
            <a:ext cx="2464308" cy="3017520"/>
          </a:xfrm>
          <a:prstGeom prst="roundRect">
            <a:avLst>
              <a:gd name="adj" fmla="val 445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hase number 2"/>
          <p:cNvSpPr/>
          <p:nvPr/>
        </p:nvSpPr>
        <p:spPr>
          <a:xfrm>
            <a:off x="369874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9874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698748" y="2606040"/>
            <a:ext cx="191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Maximum Matching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98748" y="3063240"/>
            <a:ext cx="19156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augmenting paths iteratively with DFS/BFS and select the highest-weight edges.</a:t>
            </a:r>
            <a:endParaRPr lang="en-US" sz="1400" dirty="0"/>
          </a:p>
        </p:txBody>
      </p:sp>
      <p:pic>
        <p:nvPicPr>
          <p:cNvPr id="14" name="Arrow 2" descr="Next ph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2834640"/>
            <a:ext cx="228600" cy="228600"/>
          </a:xfrm>
          <a:prstGeom prst="rect">
            <a:avLst/>
          </a:prstGeom>
        </p:spPr>
      </p:pic>
      <p:sp>
        <p:nvSpPr>
          <p:cNvPr id="15" name="Phase card 3"/>
          <p:cNvSpPr/>
          <p:nvPr/>
        </p:nvSpPr>
        <p:spPr>
          <a:xfrm>
            <a:off x="6300216" y="1508760"/>
            <a:ext cx="2464308" cy="3017520"/>
          </a:xfrm>
          <a:prstGeom prst="roundRect">
            <a:avLst>
              <a:gd name="adj" fmla="val 445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Phase number 3"/>
          <p:cNvSpPr/>
          <p:nvPr/>
        </p:nvSpPr>
        <p:spPr>
          <a:xfrm>
            <a:off x="6574536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7453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6574536" y="2606040"/>
            <a:ext cx="191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Optimization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574536" y="3063240"/>
            <a:ext cx="19156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Apply Hopcroft-Karp or the Hungarian algorithm and verify every constraint holds.</a:t>
            </a:r>
            <a:endParaRPr lang="en-US" sz="1400" dirty="0"/>
          </a:p>
        </p:txBody>
      </p:sp>
      <p:pic>
        <p:nvPicPr>
          <p:cNvPr id="20" name="Arrow 3" descr="Next ph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964" y="2834640"/>
            <a:ext cx="228600" cy="228600"/>
          </a:xfrm>
          <a:prstGeom prst="rect">
            <a:avLst/>
          </a:prstGeom>
        </p:spPr>
      </p:pic>
      <p:sp>
        <p:nvSpPr>
          <p:cNvPr id="21" name="Phase card 4"/>
          <p:cNvSpPr/>
          <p:nvPr/>
        </p:nvSpPr>
        <p:spPr>
          <a:xfrm>
            <a:off x="9176004" y="1508760"/>
            <a:ext cx="2464308" cy="3017520"/>
          </a:xfrm>
          <a:prstGeom prst="roundRect">
            <a:avLst>
              <a:gd name="adj" fmla="val 445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Phase number 4"/>
          <p:cNvSpPr/>
          <p:nvPr/>
        </p:nvSpPr>
        <p:spPr>
          <a:xfrm>
            <a:off x="9450324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45032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9450324" y="2606040"/>
            <a:ext cx="191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Output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450324" y="3063240"/>
            <a:ext cx="19156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the allocation mapping, validate no violations, report unmatched students.</a:t>
            </a:r>
            <a:endParaRPr lang="en-US" sz="1400" dirty="0"/>
          </a:p>
        </p:txBody>
      </p:sp>
      <p:sp>
        <p:nvSpPr>
          <p:cNvPr id="26" name="Complexity card 1"/>
          <p:cNvSpPr/>
          <p:nvPr/>
        </p:nvSpPr>
        <p:spPr>
          <a:xfrm>
            <a:off x="548640" y="4754880"/>
            <a:ext cx="5408676" cy="1325880"/>
          </a:xfrm>
          <a:prstGeom prst="roundRect">
            <a:avLst>
              <a:gd name="adj" fmla="val 8276"/>
            </a:avLst>
          </a:prstGeom>
          <a:solidFill>
            <a:schemeClr val="accent4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14400" y="49377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O(V·E)</a:t>
            </a:r>
            <a:endParaRPr lang="en-US" sz="4000" dirty="0"/>
          </a:p>
        </p:txBody>
      </p:sp>
      <p:sp>
        <p:nvSpPr>
          <p:cNvPr id="28" name="Text 23"/>
          <p:cNvSpPr txBox="1"/>
          <p:nvPr/>
        </p:nvSpPr>
        <p:spPr>
          <a:xfrm>
            <a:off x="3931920" y="4937760"/>
            <a:ext cx="1751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General matching time complexity</a:t>
            </a:r>
            <a:endParaRPr lang="en-US" sz="1600" dirty="0"/>
          </a:p>
        </p:txBody>
      </p:sp>
      <p:sp>
        <p:nvSpPr>
          <p:cNvPr id="29" name="Complexity card 2"/>
          <p:cNvSpPr/>
          <p:nvPr/>
        </p:nvSpPr>
        <p:spPr>
          <a:xfrm>
            <a:off x="6231636" y="4754880"/>
            <a:ext cx="5408676" cy="1325880"/>
          </a:xfrm>
          <a:prstGeom prst="roundRect">
            <a:avLst>
              <a:gd name="adj" fmla="val 8276"/>
            </a:avLst>
          </a:prstGeom>
          <a:solidFill>
            <a:schemeClr val="accent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597396" y="49377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O(E·√V)</a:t>
            </a:r>
            <a:endParaRPr lang="en-US" sz="4000" dirty="0"/>
          </a:p>
        </p:txBody>
      </p:sp>
      <p:sp>
        <p:nvSpPr>
          <p:cNvPr id="31" name="Text 26"/>
          <p:cNvSpPr txBox="1"/>
          <p:nvPr/>
        </p:nvSpPr>
        <p:spPr>
          <a:xfrm>
            <a:off x="9614916" y="4937760"/>
            <a:ext cx="1751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Hopcroft-Karp on dense graphs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 matching works</a:t>
            </a:r>
            <a:endParaRPr lang="en-US" sz="3400" dirty="0"/>
          </a:p>
        </p:txBody>
      </p:sp>
      <p:sp>
        <p:nvSpPr>
          <p:cNvPr id="3" name="Graph panel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STUDENTS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LAB SESSIONS (capacity 2)</a:t>
            </a:r>
            <a:endParaRPr lang="en-US" sz="1200" dirty="0"/>
          </a:p>
        </p:txBody>
      </p:sp>
      <p:sp>
        <p:nvSpPr>
          <p:cNvPr id="6" name="Edge"/>
          <p:cNvSpPr/>
          <p:nvPr/>
        </p:nvSpPr>
        <p:spPr>
          <a:xfrm>
            <a:off x="1664208" y="2240280"/>
            <a:ext cx="3822192" cy="1600200"/>
          </a:xfrm>
          <a:prstGeom prst="line">
            <a:avLst/>
          </a:prstGeom>
          <a:noFill/>
          <a:ln w="15875">
            <a:solidFill>
              <a:srgbClr val="D9A5AC"/>
            </a:solidFill>
            <a:prstDash val="dash"/>
          </a:ln>
        </p:spPr>
      </p:sp>
      <p:sp>
        <p:nvSpPr>
          <p:cNvPr id="7" name="Edge"/>
          <p:cNvSpPr/>
          <p:nvPr/>
        </p:nvSpPr>
        <p:spPr>
          <a:xfrm>
            <a:off x="1664208" y="2926080"/>
            <a:ext cx="3822192" cy="914400"/>
          </a:xfrm>
          <a:prstGeom prst="line">
            <a:avLst/>
          </a:prstGeom>
          <a:noFill/>
          <a:ln w="15875">
            <a:solidFill>
              <a:srgbClr val="D9A5AC"/>
            </a:solidFill>
            <a:prstDash val="dash"/>
          </a:ln>
        </p:spPr>
      </p:sp>
      <p:sp>
        <p:nvSpPr>
          <p:cNvPr id="8" name="Edge"/>
          <p:cNvSpPr/>
          <p:nvPr/>
        </p:nvSpPr>
        <p:spPr>
          <a:xfrm flipV="1">
            <a:off x="1664208" y="2514600"/>
            <a:ext cx="3822192" cy="1097280"/>
          </a:xfrm>
          <a:prstGeom prst="line">
            <a:avLst/>
          </a:prstGeom>
          <a:noFill/>
          <a:ln w="15875">
            <a:solidFill>
              <a:srgbClr val="D9A5AC"/>
            </a:solidFill>
            <a:prstDash val="dash"/>
          </a:ln>
        </p:spPr>
      </p:sp>
      <p:sp>
        <p:nvSpPr>
          <p:cNvPr id="9" name="Edge"/>
          <p:cNvSpPr/>
          <p:nvPr/>
        </p:nvSpPr>
        <p:spPr>
          <a:xfrm>
            <a:off x="1664208" y="4297680"/>
            <a:ext cx="3822192" cy="868680"/>
          </a:xfrm>
          <a:prstGeom prst="line">
            <a:avLst/>
          </a:prstGeom>
          <a:noFill/>
          <a:ln w="15875">
            <a:solidFill>
              <a:srgbClr val="D9A5AC"/>
            </a:solidFill>
            <a:prstDash val="dash"/>
          </a:ln>
        </p:spPr>
      </p:sp>
      <p:sp>
        <p:nvSpPr>
          <p:cNvPr id="10" name="Edge"/>
          <p:cNvSpPr/>
          <p:nvPr/>
        </p:nvSpPr>
        <p:spPr>
          <a:xfrm flipV="1">
            <a:off x="1664208" y="3840480"/>
            <a:ext cx="3822192" cy="1143000"/>
          </a:xfrm>
          <a:prstGeom prst="line">
            <a:avLst/>
          </a:prstGeom>
          <a:noFill/>
          <a:ln w="15875">
            <a:solidFill>
              <a:srgbClr val="D9A5AC"/>
            </a:solidFill>
            <a:prstDash val="dash"/>
          </a:ln>
        </p:spPr>
      </p:sp>
      <p:sp>
        <p:nvSpPr>
          <p:cNvPr id="11" name="Edge"/>
          <p:cNvSpPr/>
          <p:nvPr/>
        </p:nvSpPr>
        <p:spPr>
          <a:xfrm flipV="1">
            <a:off x="1664208" y="3840480"/>
            <a:ext cx="3822192" cy="1828800"/>
          </a:xfrm>
          <a:prstGeom prst="line">
            <a:avLst/>
          </a:prstGeom>
          <a:noFill/>
          <a:ln w="15875">
            <a:solidFill>
              <a:srgbClr val="D9A5AC"/>
            </a:solidFill>
            <a:prstDash val="dash"/>
          </a:ln>
        </p:spPr>
      </p:sp>
      <p:sp>
        <p:nvSpPr>
          <p:cNvPr id="12" name="Edge"/>
          <p:cNvSpPr/>
          <p:nvPr/>
        </p:nvSpPr>
        <p:spPr>
          <a:xfrm>
            <a:off x="1664208" y="2240280"/>
            <a:ext cx="3822192" cy="274320"/>
          </a:xfrm>
          <a:prstGeom prst="line">
            <a:avLst/>
          </a:prstGeom>
          <a:noFill/>
          <a:ln w="34925">
            <a:solidFill>
              <a:srgbClr val="B3122A"/>
            </a:solidFill>
            <a:prstDash val="solid"/>
          </a:ln>
        </p:spPr>
      </p:sp>
      <p:sp>
        <p:nvSpPr>
          <p:cNvPr id="13" name="Edge"/>
          <p:cNvSpPr/>
          <p:nvPr/>
        </p:nvSpPr>
        <p:spPr>
          <a:xfrm flipV="1">
            <a:off x="1664208" y="2514600"/>
            <a:ext cx="3822192" cy="411480"/>
          </a:xfrm>
          <a:prstGeom prst="line">
            <a:avLst/>
          </a:prstGeom>
          <a:noFill/>
          <a:ln w="34925">
            <a:solidFill>
              <a:srgbClr val="B3122A"/>
            </a:solidFill>
            <a:prstDash val="solid"/>
          </a:ln>
        </p:spPr>
      </p:sp>
      <p:sp>
        <p:nvSpPr>
          <p:cNvPr id="14" name="Edge"/>
          <p:cNvSpPr/>
          <p:nvPr/>
        </p:nvSpPr>
        <p:spPr>
          <a:xfrm>
            <a:off x="1664208" y="3611880"/>
            <a:ext cx="3822192" cy="228600"/>
          </a:xfrm>
          <a:prstGeom prst="line">
            <a:avLst/>
          </a:prstGeom>
          <a:noFill/>
          <a:ln w="34925">
            <a:solidFill>
              <a:srgbClr val="B3122A"/>
            </a:solidFill>
            <a:prstDash val="solid"/>
          </a:ln>
        </p:spPr>
      </p:sp>
      <p:sp>
        <p:nvSpPr>
          <p:cNvPr id="15" name="Edge"/>
          <p:cNvSpPr/>
          <p:nvPr/>
        </p:nvSpPr>
        <p:spPr>
          <a:xfrm flipV="1">
            <a:off x="1664208" y="3840480"/>
            <a:ext cx="3822192" cy="457200"/>
          </a:xfrm>
          <a:prstGeom prst="line">
            <a:avLst/>
          </a:prstGeom>
          <a:noFill/>
          <a:ln w="34925">
            <a:solidFill>
              <a:srgbClr val="B3122A"/>
            </a:solidFill>
            <a:prstDash val="solid"/>
          </a:ln>
        </p:spPr>
      </p:sp>
      <p:sp>
        <p:nvSpPr>
          <p:cNvPr id="16" name="Edge"/>
          <p:cNvSpPr/>
          <p:nvPr/>
        </p:nvSpPr>
        <p:spPr>
          <a:xfrm>
            <a:off x="1664208" y="4983480"/>
            <a:ext cx="3822192" cy="182880"/>
          </a:xfrm>
          <a:prstGeom prst="line">
            <a:avLst/>
          </a:prstGeom>
          <a:noFill/>
          <a:ln w="34925">
            <a:solidFill>
              <a:srgbClr val="B3122A"/>
            </a:solidFill>
            <a:prstDash val="solid"/>
          </a:ln>
        </p:spPr>
      </p:sp>
      <p:sp>
        <p:nvSpPr>
          <p:cNvPr id="17" name="Edge"/>
          <p:cNvSpPr/>
          <p:nvPr/>
        </p:nvSpPr>
        <p:spPr>
          <a:xfrm flipV="1">
            <a:off x="1664208" y="5166360"/>
            <a:ext cx="3822192" cy="502920"/>
          </a:xfrm>
          <a:prstGeom prst="line">
            <a:avLst/>
          </a:prstGeom>
          <a:noFill/>
          <a:ln w="34925">
            <a:solidFill>
              <a:srgbClr val="B3122A"/>
            </a:solidFill>
            <a:prstDash val="solid"/>
          </a:ln>
        </p:spPr>
      </p:sp>
      <p:sp>
        <p:nvSpPr>
          <p:cNvPr id="18" name="Student node 1"/>
          <p:cNvSpPr/>
          <p:nvPr/>
        </p:nvSpPr>
        <p:spPr>
          <a:xfrm>
            <a:off x="1261872" y="203911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61872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S1</a:t>
            </a:r>
            <a:endParaRPr lang="en-US" sz="1200" dirty="0"/>
          </a:p>
        </p:txBody>
      </p:sp>
      <p:sp>
        <p:nvSpPr>
          <p:cNvPr id="20" name="Student node 2"/>
          <p:cNvSpPr/>
          <p:nvPr/>
        </p:nvSpPr>
        <p:spPr>
          <a:xfrm>
            <a:off x="1261872" y="272491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6187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S2</a:t>
            </a:r>
            <a:endParaRPr lang="en-US" sz="1200" dirty="0"/>
          </a:p>
        </p:txBody>
      </p:sp>
      <p:sp>
        <p:nvSpPr>
          <p:cNvPr id="22" name="Student node 3"/>
          <p:cNvSpPr/>
          <p:nvPr/>
        </p:nvSpPr>
        <p:spPr>
          <a:xfrm>
            <a:off x="1261872" y="341071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61872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S3</a:t>
            </a:r>
            <a:endParaRPr lang="en-US" sz="1200" dirty="0"/>
          </a:p>
        </p:txBody>
      </p:sp>
      <p:sp>
        <p:nvSpPr>
          <p:cNvPr id="24" name="Student node 4"/>
          <p:cNvSpPr/>
          <p:nvPr/>
        </p:nvSpPr>
        <p:spPr>
          <a:xfrm>
            <a:off x="1261872" y="409651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261872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S4</a:t>
            </a:r>
            <a:endParaRPr lang="en-US" sz="1200" dirty="0"/>
          </a:p>
        </p:txBody>
      </p:sp>
      <p:sp>
        <p:nvSpPr>
          <p:cNvPr id="26" name="Student node 5"/>
          <p:cNvSpPr/>
          <p:nvPr/>
        </p:nvSpPr>
        <p:spPr>
          <a:xfrm>
            <a:off x="1261872" y="478231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61872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S5</a:t>
            </a:r>
            <a:endParaRPr lang="en-US" sz="1200" dirty="0"/>
          </a:p>
        </p:txBody>
      </p:sp>
      <p:sp>
        <p:nvSpPr>
          <p:cNvPr id="28" name="Student node 6"/>
          <p:cNvSpPr/>
          <p:nvPr/>
        </p:nvSpPr>
        <p:spPr>
          <a:xfrm>
            <a:off x="1261872" y="546811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61872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S6</a:t>
            </a:r>
            <a:endParaRPr lang="en-US" sz="1200" dirty="0"/>
          </a:p>
        </p:txBody>
      </p:sp>
      <p:sp>
        <p:nvSpPr>
          <p:cNvPr id="30" name="Lab node A"/>
          <p:cNvSpPr/>
          <p:nvPr/>
        </p:nvSpPr>
        <p:spPr>
          <a:xfrm>
            <a:off x="5486400" y="20802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0" y="20802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Lab 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c(l) = 2</a:t>
            </a:r>
            <a:endParaRPr lang="en-US" sz="1600" dirty="0"/>
          </a:p>
        </p:txBody>
      </p:sp>
      <p:sp>
        <p:nvSpPr>
          <p:cNvPr id="32" name="Lab node B"/>
          <p:cNvSpPr/>
          <p:nvPr/>
        </p:nvSpPr>
        <p:spPr>
          <a:xfrm>
            <a:off x="5486400" y="340614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0" y="34061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Lab B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c(l) = 2</a:t>
            </a:r>
            <a:endParaRPr lang="en-US" sz="1600" dirty="0"/>
          </a:p>
        </p:txBody>
      </p:sp>
      <p:sp>
        <p:nvSpPr>
          <p:cNvPr id="34" name="Lab node C"/>
          <p:cNvSpPr/>
          <p:nvPr/>
        </p:nvSpPr>
        <p:spPr>
          <a:xfrm>
            <a:off x="5486400" y="473202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0" y="47320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Lab C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c(l) = 2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389120" y="5806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Illustrative example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1508760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graph</a:t>
            </a:r>
            <a:endParaRPr lang="en-US" sz="2200" dirty="0"/>
          </a:p>
        </p:txBody>
      </p:sp>
      <p:sp>
        <p:nvSpPr>
          <p:cNvPr id="38" name="Edge"/>
          <p:cNvSpPr/>
          <p:nvPr/>
        </p:nvSpPr>
        <p:spPr>
          <a:xfrm>
            <a:off x="7863840" y="2240280"/>
            <a:ext cx="640080" cy="91"/>
          </a:xfrm>
          <a:prstGeom prst="line">
            <a:avLst/>
          </a:prstGeom>
          <a:noFill/>
          <a:ln w="34925">
            <a:solidFill>
              <a:srgbClr val="B312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0" y="2075688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Matched edge in the final allocation</a:t>
            </a:r>
            <a:endParaRPr lang="en-US" sz="1400" dirty="0"/>
          </a:p>
        </p:txBody>
      </p:sp>
      <p:sp>
        <p:nvSpPr>
          <p:cNvPr id="40" name="Edge"/>
          <p:cNvSpPr/>
          <p:nvPr/>
        </p:nvSpPr>
        <p:spPr>
          <a:xfrm>
            <a:off x="7863840" y="2697480"/>
            <a:ext cx="640080" cy="91"/>
          </a:xfrm>
          <a:prstGeom prst="line">
            <a:avLst/>
          </a:prstGeom>
          <a:noFill/>
          <a:ln w="15875">
            <a:solidFill>
              <a:srgbClr val="D9A5AC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8686800" y="2532888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Candidate edge weighted by p(s, l)</a:t>
            </a:r>
            <a:endParaRPr lang="en-US" sz="1400" dirty="0"/>
          </a:p>
        </p:txBody>
      </p:sp>
      <p:sp>
        <p:nvSpPr>
          <p:cNvPr id="42" name="Graph note 1"/>
          <p:cNvSpPr/>
          <p:nvPr/>
        </p:nvSpPr>
        <p:spPr>
          <a:xfrm>
            <a:off x="7863840" y="3200400"/>
            <a:ext cx="37764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43" name="Graph note icon 1 circle"/>
          <p:cNvSpPr/>
          <p:nvPr/>
        </p:nvSpPr>
        <p:spPr>
          <a:xfrm>
            <a:off x="8046720" y="3374136"/>
            <a:ext cx="493776" cy="493776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44" name="Graph note icon 1" descr="Graph not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0164" y="3497580"/>
            <a:ext cx="246888" cy="246888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8732520" y="320040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student gets exactly one lab session.</a:t>
            </a:r>
            <a:endParaRPr lang="en-US" sz="1400" dirty="0"/>
          </a:p>
        </p:txBody>
      </p:sp>
      <p:sp>
        <p:nvSpPr>
          <p:cNvPr id="46" name="Graph note 2"/>
          <p:cNvSpPr/>
          <p:nvPr/>
        </p:nvSpPr>
        <p:spPr>
          <a:xfrm>
            <a:off x="7863840" y="4178808"/>
            <a:ext cx="37764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47" name="Graph note icon 2 circle"/>
          <p:cNvSpPr/>
          <p:nvPr/>
        </p:nvSpPr>
        <p:spPr>
          <a:xfrm>
            <a:off x="8046720" y="4352544"/>
            <a:ext cx="493776" cy="493776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48" name="Graph note icon 2" descr="Graph not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164" y="4475988"/>
            <a:ext cx="246888" cy="246888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732520" y="4178808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lab never takes more students than c(l).</a:t>
            </a:r>
            <a:endParaRPr lang="en-US" sz="1400" dirty="0"/>
          </a:p>
        </p:txBody>
      </p:sp>
      <p:sp>
        <p:nvSpPr>
          <p:cNvPr id="50" name="Graph note 3"/>
          <p:cNvSpPr/>
          <p:nvPr/>
        </p:nvSpPr>
        <p:spPr>
          <a:xfrm>
            <a:off x="7863840" y="5157216"/>
            <a:ext cx="37764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51" name="Graph note icon 3 circle"/>
          <p:cNvSpPr/>
          <p:nvPr/>
        </p:nvSpPr>
        <p:spPr>
          <a:xfrm>
            <a:off x="8046720" y="5330952"/>
            <a:ext cx="493776" cy="493776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52" name="Graph note icon 3" descr="Graph not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4" y="5454396"/>
            <a:ext cx="246888" cy="246888"/>
          </a:xfrm>
          <a:prstGeom prst="rect">
            <a:avLst/>
          </a:prstGeom>
        </p:spPr>
      </p:pic>
      <p:sp>
        <p:nvSpPr>
          <p:cNvPr id="53" name="Text 48"/>
          <p:cNvSpPr txBox="1"/>
          <p:nvPr/>
        </p:nvSpPr>
        <p:spPr>
          <a:xfrm>
            <a:off x="8732520" y="5157216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Augmenting paths re-route earlier choices to fit more students 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details</a:t>
            </a:r>
            <a:endParaRPr lang="en-US" sz="3400" dirty="0"/>
          </a:p>
        </p:txBody>
      </p:sp>
      <p:sp>
        <p:nvSpPr>
          <p:cNvPr id="3" name="Tech tile 1"/>
          <p:cNvSpPr/>
          <p:nvPr/>
        </p:nvSpPr>
        <p:spPr>
          <a:xfrm>
            <a:off x="548640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HARDWARE icon circle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4A0A12"/>
          </a:solidFill>
          <a:ln/>
        </p:spPr>
      </p:sp>
      <p:pic>
        <p:nvPicPr>
          <p:cNvPr id="5" name="HARDWARE icon" descr="HARDWA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316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920240"/>
            <a:ext cx="2234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HARDWARE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Standard desktop or server, 2 GB+ RAM, multi-core processor recommended</a:t>
            </a:r>
            <a:endParaRPr lang="en-US" sz="1600" dirty="0"/>
          </a:p>
        </p:txBody>
      </p:sp>
      <p:sp>
        <p:nvSpPr>
          <p:cNvPr id="8" name="Tech tile 2"/>
          <p:cNvSpPr/>
          <p:nvPr/>
        </p:nvSpPr>
        <p:spPr>
          <a:xfrm>
            <a:off x="4337304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OPERATING SYSTEM icon circle"/>
          <p:cNvSpPr/>
          <p:nvPr/>
        </p:nvSpPr>
        <p:spPr>
          <a:xfrm>
            <a:off x="4611624" y="1783080"/>
            <a:ext cx="594360" cy="594360"/>
          </a:xfrm>
          <a:prstGeom prst="ellipse">
            <a:avLst/>
          </a:prstGeom>
          <a:solidFill>
            <a:srgbClr val="4A0A12"/>
          </a:solidFill>
          <a:ln/>
        </p:spPr>
      </p:sp>
      <p:pic>
        <p:nvPicPr>
          <p:cNvPr id="10" name="OPERATING SYSTEM icon" descr="OPERATING SYSTE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214" y="19316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8864" y="1920240"/>
            <a:ext cx="2234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OPERATING SYSTEM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6060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Ubuntu 18.04+, Windows 10/11 or macOS 10.13+</a:t>
            </a:r>
            <a:endParaRPr lang="en-US" sz="1600" dirty="0"/>
          </a:p>
        </p:txBody>
      </p:sp>
      <p:sp>
        <p:nvSpPr>
          <p:cNvPr id="13" name="Tech tile 3"/>
          <p:cNvSpPr/>
          <p:nvPr/>
        </p:nvSpPr>
        <p:spPr>
          <a:xfrm>
            <a:off x="8125968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LANGUAGE icon circle"/>
          <p:cNvSpPr/>
          <p:nvPr/>
        </p:nvSpPr>
        <p:spPr>
          <a:xfrm>
            <a:off x="8400288" y="1783080"/>
            <a:ext cx="594360" cy="594360"/>
          </a:xfrm>
          <a:prstGeom prst="ellipse">
            <a:avLst/>
          </a:prstGeom>
          <a:solidFill>
            <a:srgbClr val="4A0A12"/>
          </a:solidFill>
          <a:ln/>
        </p:spPr>
      </p:sp>
      <p:pic>
        <p:nvPicPr>
          <p:cNvPr id="15" name="LANGUAGE icon" descr="LANGUAG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878" y="19316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7528" y="1920240"/>
            <a:ext cx="2234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LANGUAGE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6060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Python 3.8+ with the NetworkX library for graph operations</a:t>
            </a:r>
            <a:endParaRPr lang="en-US" sz="1600" dirty="0"/>
          </a:p>
        </p:txBody>
      </p:sp>
      <p:sp>
        <p:nvSpPr>
          <p:cNvPr id="18" name="Tech tile 4"/>
          <p:cNvSpPr/>
          <p:nvPr/>
        </p:nvSpPr>
        <p:spPr>
          <a:xfrm>
            <a:off x="548640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LTERNATIVE icon circle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4A0A12"/>
          </a:solidFill>
          <a:ln/>
        </p:spPr>
      </p:sp>
      <p:pic>
        <p:nvPicPr>
          <p:cNvPr id="20" name="ALTERNATIVE icon" descr="ALTERNATIV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5483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343400"/>
            <a:ext cx="2234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ALTERNATIVE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292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C++ with the STL for performance-critical deployments</a:t>
            </a:r>
            <a:endParaRPr lang="en-US" sz="1600" dirty="0"/>
          </a:p>
        </p:txBody>
      </p:sp>
      <p:sp>
        <p:nvSpPr>
          <p:cNvPr id="23" name="Tech tile 5"/>
          <p:cNvSpPr/>
          <p:nvPr/>
        </p:nvSpPr>
        <p:spPr>
          <a:xfrm>
            <a:off x="4337304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DATABASE icon circle"/>
          <p:cNvSpPr/>
          <p:nvPr/>
        </p:nvSpPr>
        <p:spPr>
          <a:xfrm>
            <a:off x="4611624" y="4206240"/>
            <a:ext cx="594360" cy="594360"/>
          </a:xfrm>
          <a:prstGeom prst="ellipse">
            <a:avLst/>
          </a:prstGeom>
          <a:solidFill>
            <a:srgbClr val="4A0A12"/>
          </a:solidFill>
          <a:ln/>
        </p:spPr>
      </p:sp>
      <p:pic>
        <p:nvPicPr>
          <p:cNvPr id="25" name="DATABASE icon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214" y="435483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88864" y="4343400"/>
            <a:ext cx="2234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DATABASE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4611624" y="50292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SQLite for a single institution, PostgreSQL for multi-institution systems</a:t>
            </a:r>
            <a:endParaRPr lang="en-US" sz="1600" dirty="0"/>
          </a:p>
        </p:txBody>
      </p:sp>
      <p:sp>
        <p:nvSpPr>
          <p:cNvPr id="28" name="Tech tile 6"/>
          <p:cNvSpPr/>
          <p:nvPr/>
        </p:nvSpPr>
        <p:spPr>
          <a:xfrm>
            <a:off x="8125968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NTERFACE icon circle"/>
          <p:cNvSpPr/>
          <p:nvPr/>
        </p:nvSpPr>
        <p:spPr>
          <a:xfrm>
            <a:off x="8400288" y="4206240"/>
            <a:ext cx="594360" cy="594360"/>
          </a:xfrm>
          <a:prstGeom prst="ellipse">
            <a:avLst/>
          </a:prstGeom>
          <a:solidFill>
            <a:srgbClr val="4A0A12"/>
          </a:solidFill>
          <a:ln/>
        </p:spPr>
      </p:sp>
      <p:pic>
        <p:nvPicPr>
          <p:cNvPr id="30" name="INTERFACE icon" descr="INTERFAC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878" y="435483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77528" y="4343400"/>
            <a:ext cx="2234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INTERFACE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400288" y="50292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Web dashboard (Flask/Django) for admins; REST API for existing systems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 &amp; analysis</a:t>
            </a:r>
            <a:endParaRPr lang="en-US" sz="3400" dirty="0"/>
          </a:p>
        </p:txBody>
      </p:sp>
      <p:sp>
        <p:nvSpPr>
          <p:cNvPr id="3" name="Success panel"/>
          <p:cNvSpPr/>
          <p:nvPr/>
        </p:nvSpPr>
        <p:spPr>
          <a:xfrm>
            <a:off x="548640" y="1508760"/>
            <a:ext cx="4206240" cy="4572000"/>
          </a:xfrm>
          <a:prstGeom prst="roundRect">
            <a:avLst>
              <a:gd name="adj" fmla="val 2609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ALLOCATION SUCCESS</a:t>
            </a:r>
            <a:endParaRPr lang="en-US" sz="1200" dirty="0"/>
          </a:p>
        </p:txBody>
      </p:sp>
      <p:graphicFrame>
        <p:nvGraphicFramePr>
          <p:cNvPr id="5" name="Allocation success chart" descr=""/>
          <p:cNvGraphicFramePr/>
          <p:nvPr/>
        </p:nvGraphicFramePr>
        <p:xfrm>
          <a:off x="960120" y="2103120"/>
          <a:ext cx="3383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60120" y="3154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95.2%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120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 1,000 students placed across 50 lab sessions</a:t>
            </a:r>
            <a:endParaRPr lang="en-US" sz="1400" dirty="0"/>
          </a:p>
        </p:txBody>
      </p:sp>
      <p:sp>
        <p:nvSpPr>
          <p:cNvPr id="8" name="Stat card 1"/>
          <p:cNvSpPr/>
          <p:nvPr/>
        </p:nvSpPr>
        <p:spPr>
          <a:xfrm>
            <a:off x="5029200" y="1508760"/>
            <a:ext cx="31683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49240" y="1783080"/>
            <a:ext cx="2528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8.7/10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274320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preference satisfaction (scale 1-10)</a:t>
            </a:r>
            <a:endParaRPr lang="en-US" sz="1400" dirty="0"/>
          </a:p>
        </p:txBody>
      </p:sp>
      <p:sp>
        <p:nvSpPr>
          <p:cNvPr id="11" name="Stat card 2"/>
          <p:cNvSpPr/>
          <p:nvPr/>
        </p:nvSpPr>
        <p:spPr>
          <a:xfrm>
            <a:off x="8471916" y="1508760"/>
            <a:ext cx="31683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91956" y="1783080"/>
            <a:ext cx="2528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±2%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791956" y="274320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Std. deviation of preferences across sessions, so distribution is fair</a:t>
            </a:r>
            <a:endParaRPr lang="en-US" sz="1400" dirty="0"/>
          </a:p>
        </p:txBody>
      </p:sp>
      <p:sp>
        <p:nvSpPr>
          <p:cNvPr id="14" name="Stat card 3"/>
          <p:cNvSpPr/>
          <p:nvPr/>
        </p:nvSpPr>
        <p:spPr>
          <a:xfrm>
            <a:off x="5029200" y="3931920"/>
            <a:ext cx="31683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49240" y="4206240"/>
            <a:ext cx="2528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 ms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516636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Runtime for 1,000 students, scaling linearly</a:t>
            </a:r>
            <a:endParaRPr lang="en-US" sz="1400" dirty="0"/>
          </a:p>
        </p:txBody>
      </p:sp>
      <p:sp>
        <p:nvSpPr>
          <p:cNvPr id="17" name="Stat card 4"/>
          <p:cNvSpPr/>
          <p:nvPr/>
        </p:nvSpPr>
        <p:spPr>
          <a:xfrm>
            <a:off x="8471916" y="3931920"/>
            <a:ext cx="31683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791956" y="4206240"/>
            <a:ext cx="2528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 MB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8791956" y="516636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Memory for the large-scale test, suitable for institutional deployment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onclusion card 1"/>
          <p:cNvSpPr/>
          <p:nvPr/>
        </p:nvSpPr>
        <p:spPr>
          <a:xfrm>
            <a:off x="548640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Sound and efficient icon circle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5" name="Sound and efficient icon" descr="Sound and effici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and efficient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Maximum bipartite matching is mathematically sound and computationally efficient.</a:t>
            </a:r>
            <a:endParaRPr lang="en-US" sz="1400" dirty="0"/>
          </a:p>
        </p:txBody>
      </p:sp>
      <p:sp>
        <p:nvSpPr>
          <p:cNvPr id="8" name="Conclusion card 2"/>
          <p:cNvSpPr/>
          <p:nvPr/>
        </p:nvSpPr>
        <p:spPr>
          <a:xfrm>
            <a:off x="4337304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Fair and satisfying icon circle"/>
          <p:cNvSpPr/>
          <p:nvPr/>
        </p:nvSpPr>
        <p:spPr>
          <a:xfrm>
            <a:off x="4611624" y="17830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0" name="Fair and satisfying icon" descr="Fair and satisfy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784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1624" y="24688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and satisfying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8803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Real-world constraints handled with high fairness and preference satisfaction.</a:t>
            </a:r>
            <a:endParaRPr lang="en-US" sz="1400" dirty="0"/>
          </a:p>
        </p:txBody>
      </p:sp>
      <p:sp>
        <p:nvSpPr>
          <p:cNvPr id="13" name="Conclusion card 3"/>
          <p:cNvSpPr/>
          <p:nvPr/>
        </p:nvSpPr>
        <p:spPr>
          <a:xfrm>
            <a:off x="8125968" y="150876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4" name="Less admin work icon circle"/>
          <p:cNvSpPr/>
          <p:nvPr/>
        </p:nvSpPr>
        <p:spPr>
          <a:xfrm>
            <a:off x="8400288" y="17830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5" name="Less admin work icon" descr="Less admin wor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1920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0288" y="24688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admin work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8803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Manual allocation processes are no longer needed.</a:t>
            </a:r>
            <a:endParaRPr lang="en-US" sz="1400" dirty="0"/>
          </a:p>
        </p:txBody>
      </p:sp>
      <p:sp>
        <p:nvSpPr>
          <p:cNvPr id="18" name="Conclusion card 4"/>
          <p:cNvSpPr/>
          <p:nvPr/>
        </p:nvSpPr>
        <p:spPr>
          <a:xfrm>
            <a:off x="548640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9" name="Scalable icon circle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0" name="Scalable icon" descr="Scalab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920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0352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Applies to universities, colleges and vocational institutes.</a:t>
            </a:r>
            <a:endParaRPr lang="en-US" sz="1400" dirty="0"/>
          </a:p>
        </p:txBody>
      </p:sp>
      <p:sp>
        <p:nvSpPr>
          <p:cNvPr id="23" name="Conclusion card 5"/>
          <p:cNvSpPr/>
          <p:nvPr/>
        </p:nvSpPr>
        <p:spPr>
          <a:xfrm>
            <a:off x="4337304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4" name="Validated icon circle"/>
          <p:cNvSpPr/>
          <p:nvPr/>
        </p:nvSpPr>
        <p:spPr>
          <a:xfrm>
            <a:off x="4611624" y="42062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5" name="Validated icon" descr="Validate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784" y="43434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1624" y="48920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11624" y="530352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Comprehensive testing confirms performance.</a:t>
            </a:r>
            <a:endParaRPr lang="en-US" sz="1400" dirty="0"/>
          </a:p>
        </p:txBody>
      </p:sp>
      <p:sp>
        <p:nvSpPr>
          <p:cNvPr id="28" name="Conclusion card 6"/>
          <p:cNvSpPr/>
          <p:nvPr/>
        </p:nvSpPr>
        <p:spPr>
          <a:xfrm>
            <a:off x="8125968" y="393192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9" name="Production-ready icon circle"/>
          <p:cNvSpPr/>
          <p:nvPr/>
        </p:nvSpPr>
        <p:spPr>
          <a:xfrm>
            <a:off x="8400288" y="42062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0" name="Production-ready icon" descr="Production-ready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448" y="43434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00288" y="48920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400288" y="530352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Ready for academic institutions of any scale.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Future scope</a:t>
            </a:r>
            <a:endParaRPr lang="en-US" sz="3400" dirty="0"/>
          </a:p>
        </p:txBody>
      </p:sp>
      <p:sp>
        <p:nvSpPr>
          <p:cNvPr id="3" name="Future card 1"/>
          <p:cNvSpPr/>
          <p:nvPr/>
        </p:nvSpPr>
        <p:spPr>
          <a:xfrm>
            <a:off x="548640" y="150876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828800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Machine Learning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240280"/>
            <a:ext cx="2939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student preferences from historical data.</a:t>
            </a:r>
            <a:endParaRPr lang="en-US" sz="1400" dirty="0"/>
          </a:p>
        </p:txBody>
      </p:sp>
      <p:sp>
        <p:nvSpPr>
          <p:cNvPr id="7" name="Machine Learning icon circle"/>
          <p:cNvSpPr/>
          <p:nvPr/>
        </p:nvSpPr>
        <p:spPr>
          <a:xfrm>
            <a:off x="4951476" y="1897380"/>
            <a:ext cx="640080" cy="64008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8" name="Machine Learning icon" descr="Machine Learn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496" y="2057400"/>
            <a:ext cx="320040" cy="320040"/>
          </a:xfrm>
          <a:prstGeom prst="rect">
            <a:avLst/>
          </a:prstGeom>
        </p:spPr>
      </p:pic>
      <p:sp>
        <p:nvSpPr>
          <p:cNvPr id="9" name="Future card 2"/>
          <p:cNvSpPr/>
          <p:nvPr/>
        </p:nvSpPr>
        <p:spPr>
          <a:xfrm>
            <a:off x="6231636" y="150876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05956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420356" y="1828800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Dynamic Allocation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420356" y="2240280"/>
            <a:ext cx="2939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Real-time preference updates until the deadline.</a:t>
            </a:r>
            <a:endParaRPr lang="en-US" sz="1400" dirty="0"/>
          </a:p>
        </p:txBody>
      </p:sp>
      <p:sp>
        <p:nvSpPr>
          <p:cNvPr id="13" name="Dynamic Allocation icon circle"/>
          <p:cNvSpPr/>
          <p:nvPr/>
        </p:nvSpPr>
        <p:spPr>
          <a:xfrm>
            <a:off x="10634472" y="1897380"/>
            <a:ext cx="640080" cy="64008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14" name="Dynamic Allocation icon" descr="Dynamic Alloca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492" y="2057400"/>
            <a:ext cx="320040" cy="320040"/>
          </a:xfrm>
          <a:prstGeom prst="rect">
            <a:avLst/>
          </a:prstGeom>
        </p:spPr>
      </p:pic>
      <p:sp>
        <p:nvSpPr>
          <p:cNvPr id="15" name="Future card 3"/>
          <p:cNvSpPr/>
          <p:nvPr/>
        </p:nvSpPr>
        <p:spPr>
          <a:xfrm>
            <a:off x="548640" y="308610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22960" y="308610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1737360" y="3406140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Multi-objective Optimization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737360" y="3817620"/>
            <a:ext cx="2939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Balance satisfaction, instructor workload and fairness.</a:t>
            </a:r>
            <a:endParaRPr lang="en-US" sz="1400" dirty="0"/>
          </a:p>
        </p:txBody>
      </p:sp>
      <p:sp>
        <p:nvSpPr>
          <p:cNvPr id="19" name="Multi-objective Optimization icon circle"/>
          <p:cNvSpPr/>
          <p:nvPr/>
        </p:nvSpPr>
        <p:spPr>
          <a:xfrm>
            <a:off x="4951476" y="3474720"/>
            <a:ext cx="640080" cy="64008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20" name="Multi-objective Optimization icon" descr="Multi-objective Optimiza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3634740"/>
            <a:ext cx="320040" cy="320040"/>
          </a:xfrm>
          <a:prstGeom prst="rect">
            <a:avLst/>
          </a:prstGeom>
        </p:spPr>
      </p:pic>
      <p:sp>
        <p:nvSpPr>
          <p:cNvPr id="21" name="Future card 4"/>
          <p:cNvSpPr/>
          <p:nvPr/>
        </p:nvSpPr>
        <p:spPr>
          <a:xfrm>
            <a:off x="6231636" y="308610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505956" y="308610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7420356" y="3406140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Mobile Application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7420356" y="3817620"/>
            <a:ext cx="2939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 students view preferences and allocation results.</a:t>
            </a:r>
            <a:endParaRPr lang="en-US" sz="1400" dirty="0"/>
          </a:p>
        </p:txBody>
      </p:sp>
      <p:sp>
        <p:nvSpPr>
          <p:cNvPr id="25" name="Mobile Application icon circle"/>
          <p:cNvSpPr/>
          <p:nvPr/>
        </p:nvSpPr>
        <p:spPr>
          <a:xfrm>
            <a:off x="10634472" y="3474720"/>
            <a:ext cx="640080" cy="64008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26" name="Mobile Application icon" descr="Mobile Applicatio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3634740"/>
            <a:ext cx="320040" cy="320040"/>
          </a:xfrm>
          <a:prstGeom prst="rect">
            <a:avLst/>
          </a:prstGeom>
        </p:spPr>
      </p:pic>
      <p:sp>
        <p:nvSpPr>
          <p:cNvPr id="27" name="Future card 5"/>
          <p:cNvSpPr/>
          <p:nvPr/>
        </p:nvSpPr>
        <p:spPr>
          <a:xfrm>
            <a:off x="548640" y="466344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466344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3"/>
          <p:cNvSpPr txBox="1"/>
          <p:nvPr/>
        </p:nvSpPr>
        <p:spPr>
          <a:xfrm>
            <a:off x="1737360" y="4983480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Cross-institutional Sharing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737360" y="5394960"/>
            <a:ext cx="2939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lab resources across multiple institutions.</a:t>
            </a:r>
            <a:endParaRPr lang="en-US" sz="1400" dirty="0"/>
          </a:p>
        </p:txBody>
      </p:sp>
      <p:sp>
        <p:nvSpPr>
          <p:cNvPr id="31" name="Cross-institutional Sharing icon circle"/>
          <p:cNvSpPr/>
          <p:nvPr/>
        </p:nvSpPr>
        <p:spPr>
          <a:xfrm>
            <a:off x="4951476" y="5052060"/>
            <a:ext cx="640080" cy="64008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32" name="Cross-institutional Sharing icon" descr="Cross-institutional Shar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5212080"/>
            <a:ext cx="320040" cy="320040"/>
          </a:xfrm>
          <a:prstGeom prst="rect">
            <a:avLst/>
          </a:prstGeom>
        </p:spPr>
      </p:pic>
      <p:sp>
        <p:nvSpPr>
          <p:cNvPr id="33" name="Future card 6"/>
          <p:cNvSpPr/>
          <p:nvPr/>
        </p:nvSpPr>
        <p:spPr>
          <a:xfrm>
            <a:off x="6231636" y="466344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505956" y="466344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600" dirty="0"/>
          </a:p>
        </p:txBody>
      </p:sp>
      <p:sp>
        <p:nvSpPr>
          <p:cNvPr id="35" name="Text 28"/>
          <p:cNvSpPr txBox="1"/>
          <p:nvPr/>
        </p:nvSpPr>
        <p:spPr>
          <a:xfrm>
            <a:off x="7420356" y="4983480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Advanced Constraints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7420356" y="5394960"/>
            <a:ext cx="2939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Prerequisite chains, skill levels and peer grouping.</a:t>
            </a:r>
            <a:endParaRPr lang="en-US" sz="1400" dirty="0"/>
          </a:p>
        </p:txBody>
      </p:sp>
      <p:sp>
        <p:nvSpPr>
          <p:cNvPr id="37" name="Advanced Constraints icon circle"/>
          <p:cNvSpPr/>
          <p:nvPr/>
        </p:nvSpPr>
        <p:spPr>
          <a:xfrm>
            <a:off x="10634472" y="5052060"/>
            <a:ext cx="640080" cy="640080"/>
          </a:xfrm>
          <a:prstGeom prst="ellipse">
            <a:avLst/>
          </a:prstGeom>
          <a:solidFill>
            <a:srgbClr val="B3122A"/>
          </a:solidFill>
          <a:ln/>
        </p:spPr>
      </p:sp>
      <p:pic>
        <p:nvPicPr>
          <p:cNvPr id="38" name="Advanced Constraints icon" descr="Advanced Constraint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4492" y="5212080"/>
            <a:ext cx="320040" cy="320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panel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Dot spiral" descr="Decorative dotted spiral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7818120" y="2487168"/>
            <a:ext cx="4373575" cy="4373575"/>
          </a:xfrm>
          <a:prstGeom prst="rect">
            <a:avLst/>
          </a:prstGeom>
        </p:spPr>
      </p:pic>
      <p:pic>
        <p:nvPicPr>
          <p:cNvPr id="4" name="KLU logo" descr="KL Universit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468880"/>
            <a:ext cx="3291840" cy="141091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7373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discussion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4805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Yashwanth Sai   2520030036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Dhanvin Gupta   2520030604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Naga Pranadeep   2520030390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Department of Computer Science  |  DSA-3 (25CS2103E)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 Crimson">
  <a:themeElements>
    <a:clrScheme name="KLU Crimson">
      <a:dk1>
        <a:srgbClr val="1F1A1C"/>
      </a:dk1>
      <a:lt1>
        <a:srgbClr val="FFFFFF"/>
      </a:lt1>
      <a:dk2>
        <a:srgbClr val="7A0C19"/>
      </a:dk2>
      <a:lt2>
        <a:srgbClr val="FBF3F4"/>
      </a:lt2>
      <a:accent1>
        <a:srgbClr val="B3122A"/>
      </a:accent1>
      <a:accent2>
        <a:srgbClr val="F2A900"/>
      </a:accent2>
      <a:accent3>
        <a:srgbClr val="2B6F77"/>
      </a:accent3>
      <a:accent4>
        <a:srgbClr val="4A0A12"/>
      </a:accent4>
      <a:accent5>
        <a:srgbClr val="EBD3D6"/>
      </a:accent5>
      <a:accent6>
        <a:srgbClr val="6B5B5E"/>
      </a:accent6>
      <a:hlink>
        <a:srgbClr val="B3122A"/>
      </a:hlink>
      <a:folHlink>
        <a:srgbClr val="6B5B5E"/>
      </a:folHlink>
    </a:clrScheme>
    <a:fontScheme name="KLU Crims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Student-to-Laboratory Allocation Using Maximum Bipartite Matching</dc:title>
  <dc:subject>PptxGenJS Presentation</dc:subject>
  <dc:creator>Yashwanth Sai, Dhanvin Gupta, Naga Pranadeep</dc:creator>
  <cp:lastModifiedBy>Yashwanth Sai, Dhanvin Gupta, Naga Pranadeep</cp:lastModifiedBy>
  <cp:revision>1</cp:revision>
  <dcterms:created xsi:type="dcterms:W3CDTF">2026-10-11T17:25:29Z</dcterms:created>
  <dcterms:modified xsi:type="dcterms:W3CDTF">2026-10-11T17:25:29Z</dcterms:modified>
</cp:coreProperties>
</file>