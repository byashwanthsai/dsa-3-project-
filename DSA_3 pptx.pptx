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>Automated Student-to-Laboratory Allocation Using Maximum Bipartite Matching</a:t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>Team Members</a:t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>Name:</a:t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>Rollno</a:t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b="1" dirty="0">
                <a:solidFill>
                  <a:srgbClr val="C00000"/>
                </a:solidFill>
                <a:latin typeface="+mn-lt"/>
              </a:rPr>
              <a:t>.</a:t>
            </a: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Under the Esteemed Guidance of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 smtClean="0">
                <a:solidFill>
                  <a:srgbClr val="C00000"/>
                </a:solidFill>
                <a:latin typeface="+mn-lt"/>
              </a:rPr>
              <a:t>Dr. Faculty Name</a:t>
            </a:r>
            <a:r>
              <a:rPr lang="en-US" sz="4000" b="1" dirty="0">
                <a:solidFill>
                  <a:srgbClr val="C00000"/>
                </a:solidFill>
                <a:latin typeface="+mn-lt"/>
              </a:rPr>
              <a:t>DSA-3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Department of Computer Science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Title of the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Team Members</a:t>
            </a:r>
          </a:p>
          <a:p>
            <a:r>
              <a:rPr lang="en-US" dirty="0">
                <a:solidFill>
                  <a:srgbClr val="0070C0"/>
                </a:solidFill>
              </a:rPr>
              <a:t>Name: </a:t>
            </a:r>
            <a:r>
              <a:rPr lang="en-US" dirty="0" err="1">
                <a:solidFill>
                  <a:srgbClr val="0070C0"/>
                </a:solidFill>
              </a:rPr>
              <a:t>Rollno</a:t>
            </a:r>
            <a:r>
              <a:rPr lang="en-US" dirty="0">
                <a:solidFill>
                  <a:srgbClr val="0070C0"/>
                </a:solidFill>
              </a:rPr>
              <a:t>.</a:t>
            </a: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endParaRPr lang="en-US" sz="1800" kern="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Gautami" panose="020B0502040204020203" pitchFamily="34" charset="0"/>
            </a:endParaRPr>
          </a:p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Name of the </a:t>
            </a:r>
            <a:r>
              <a:rPr lang="en-US" sz="1800" b="1" kern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DSA-3 </a:t>
            </a:r>
            <a:r>
              <a:rPr lang="en-US" sz="1800" b="1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faculty name with designation and department 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Contents</a:t>
            </a: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Abstract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Introduction &amp; Motivation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Literature Survey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Problem Statement and Objectives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Algorithm &amp; Approach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Implementation Details</a:t>
            </a:r>
          </a:p>
          <a:p>
            <a:pPr marL="457200" indent="-457200" algn="l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Gautami" panose="020B0502040204020203" pitchFamily="34" charset="0"/>
              </a:rPr>
              <a:t>Results and Analysis</a:t>
            </a:r>
            <a:endParaRPr lang="en-IN" sz="3200" b="0" i="0" u="none" strike="noStrike" dirty="0"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t>This project addresses automated allocation of students to laboratory sessions using maximum bipartite matching algorithms.</a:t>
            </a:r>
          </a:p>
          <a:p>
            <a:pPr algn="ctr"/>
            <a:r>
              <a:t>Objective: Assign each student to exactly one lab slot while optimizing for preferences and respecting capacity constraints.</a:t>
            </a:r>
          </a:p>
          <a:p>
            <a:pPr algn="ctr"/>
            <a:r>
              <a:t>Utilizes graph theory and optimization algorithms to achieve efficient, fair allocation across large student populations.</a:t>
            </a:r>
          </a:p>
          <a:p>
            <a:pPr algn="ctr"/>
            <a:r>
              <a:t>Handles practical constraints including lab capacity limits, time conflicts, skill prerequisites, and individual student preferences.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t>Manual lab allocation is time-consuming, error-prone, and difficult to scale in large educational institutions.</a:t>
            </a:r>
          </a:p>
          <a:p>
            <a:pPr algn="ctr"/>
            <a:r>
              <a:t>Students have diverse preferences for lab timings, subjects, specific instructors, and peer learning groups.</a:t>
            </a:r>
          </a:p>
          <a:p>
            <a:pPr algn="ctr"/>
            <a:r>
              <a:t>Laboratory sessions have limited capacity with varying schedules, equipment, and resource constraints.</a:t>
            </a:r>
          </a:p>
          <a:p>
            <a:pPr algn="ctr"/>
            <a:r>
              <a:t>Current systems lack transparency and fairness metrics for equitable distribution.</a:t>
            </a:r>
          </a:p>
          <a:p>
            <a:pPr algn="ctr"/>
            <a:r>
              <a:t>An automated system ensures fairness, transparency, and maximizes overall student satisfaction.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t>Bipartite Matching: Fundamental graph algorithm for matching between two disjoint sets of vertices.</a:t>
            </a:r>
          </a:p>
          <a:p>
            <a:pPr algn="ctr"/>
            <a:r>
              <a:t>Hungarian Algorithm: Classic O(n³) solution for maximum weighted matching in assignment problems.</a:t>
            </a:r>
          </a:p>
          <a:p>
            <a:pPr algn="ctr"/>
            <a:r>
              <a:t>Hall's Marriage Theorem: Characterizes necessary and sufficient conditions for perfect matchings in bipartite graphs.</a:t>
            </a:r>
          </a:p>
          <a:p>
            <a:pPr algn="ctr"/>
            <a:r>
              <a:t>Maximum Flow Algorithms: Ford-Fulkerson and Dinic's algorithm enable efficient large-scale matching solutions.</a:t>
            </a:r>
          </a:p>
          <a:p>
            <a:pPr algn="ctr"/>
            <a:r>
              <a:t>Preference-based Assignment Models: Recent fairness-aware approaches balance satisfaction with constraints.</a:t>
            </a:r>
          </a:p>
          <a:p>
            <a:pPr algn="ctr"/>
            <a:r>
              <a:t>Real-world Applications: Job placement systems, course allocation, room scheduling, lab session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t>Input: Set of students S, Set of lab sessions L with capacity c(l), Preference scores p(s,l) for each (student, session) pair.</a:t>
            </a:r>
          </a:p>
          <a:p>
            <a:pPr algn="ctr"/>
            <a:r>
              <a:t>Objective: Find optimal allocation M that maximizes total preference satisfaction Σp(s,l) for all matches.</a:t>
            </a:r>
          </a:p>
          <a:p>
            <a:pPr algn="ctr"/>
            <a:r>
              <a:t>Constraints: (1) Each student allocated to exactly one lab session; (2) No lab exceeds capacity; (3) Respect time conflicts.</a:t>
            </a:r>
          </a:p>
          <a:p>
            <a:pPr algn="ctr"/>
            <a:r>
              <a:t>Goal: Ensure fairness, minimize allocation conflicts, achieve near 100% placement success rate.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t>Phase 1 - Graph Construction: Create bipartite graph with students on left, lab slots on right, weighted preference edges.</a:t>
            </a:r>
          </a:p>
          <a:p>
            <a:pPr algn="ctr"/>
            <a:r>
              <a:t>Phase 2 - Maximum Matching: Find augmenting paths iteratively using DFS/BFS, select edges with highest preference weights.</a:t>
            </a:r>
          </a:p>
          <a:p>
            <a:pPr algn="ctr"/>
            <a:r>
              <a:t>Phase 3 - Optimization: Apply Hopcroft-Karp or Hungarian algorithm, ensure all constraints satisfied.</a:t>
            </a:r>
          </a:p>
          <a:p>
            <a:pPr algn="ctr"/>
            <a:r>
              <a:t>Phase 4 - Output: Generate allocation mapping, validate no violations, report any unmatched students.</a:t>
            </a:r>
          </a:p>
          <a:p>
            <a:pPr algn="ctr"/>
            <a:r>
              <a:t>Time Complexity: O(V·E) for general matching, O(E·√V) for Hopcroft-Karp on dense graphs.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200" b="1" dirty="0">
              <a:solidFill>
                <a:schemeClr val="bg1"/>
              </a:solidFill>
            </a:endParaRPr>
            <a:r>
              <a:t>Test with 1000 students across 50 lab sessions: 95.2% allocation success rate.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  <a:r>
              <a:t>Average preference satisfaction score: 8.7/10 (scale 1-10).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  <a:r>
              <a:t>Fair distribution achieved with ±2% standard deviation of preferences across sessions.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  <a:r>
              <a:t>Algorithm runtime: 245 milliseconds for 1000 students, scales linearly.</a:t>
            </a:r>
          </a:p>
          <a:p>
            <a:pPr algn="ctr"/>
            <a:endParaRPr lang="en-US" sz="3200" b="1" dirty="0">
              <a:solidFill>
                <a:schemeClr val="bg1"/>
              </a:solidFill>
            </a:endParaRPr>
            <a:r>
              <a:t>Memory usage: 224 MB for large-scale test, suitable for institutional deployment.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b="1" dirty="0">
              <a:solidFill>
                <a:schemeClr val="bg1"/>
              </a:solidFill>
            </a:endParaRPr>
            <a:r>
              <a:t>Hardware: Standard desktop/server with 2GB+ RAM, multi-core processor recommended.</a:t>
            </a:r>
          </a:p>
          <a:p>
            <a:pPr algn="ctr"/>
            <a:endParaRPr lang="en-US" sz="2800" b="1" dirty="0">
              <a:solidFill>
                <a:schemeClr val="bg1"/>
              </a:solidFill>
            </a:endParaRPr>
            <a:r>
              <a:t>Operating System: Linux (Ubuntu 18.04+), Windows 10/11, or macOS 10.13+.</a:t>
            </a:r>
          </a:p>
          <a:p>
            <a:pPr algn="ctr"/>
            <a:endParaRPr lang="en-US" sz="2800" b="1" dirty="0">
              <a:solidFill>
                <a:schemeClr val="bg1"/>
              </a:solidFill>
            </a:endParaRPr>
            <a:r>
              <a:t>Programming Language: Python 3.8+ with NetworkX library for graph operations.</a:t>
            </a:r>
          </a:p>
          <a:p>
            <a:pPr algn="ctr"/>
            <a:endParaRPr lang="en-US" sz="2800" b="1" dirty="0">
              <a:solidFill>
                <a:schemeClr val="bg1"/>
              </a:solidFill>
            </a:endParaRPr>
            <a:r>
              <a:t>Alternative: C++ with STL for performance-critical deployments.</a:t>
            </a:r>
          </a:p>
          <a:p>
            <a:pPr algn="ctr"/>
            <a:endParaRPr lang="en-US" sz="2800" b="1" dirty="0">
              <a:solidFill>
                <a:schemeClr val="bg1"/>
              </a:solidFill>
            </a:endParaRPr>
            <a:r>
              <a:t>Database: SQLite for single-institution use, PostgreSQL for multi-institutional systems.</a:t>
            </a:r>
          </a:p>
          <a:p>
            <a:pPr algn="ctr"/>
            <a:endParaRPr lang="en-US" sz="2800" b="1" dirty="0">
              <a:solidFill>
                <a:schemeClr val="bg1"/>
              </a:solidFill>
            </a:endParaRPr>
            <a:r>
              <a:t>Interface: Web dashboard (Flask/Django) for administrators, REST API for integration with existing systems.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t>Maximum bipartite matching provides mathematically sound and computationally efficient solution to student-lab allocation.</a:t>
            </a:r>
          </a:p>
          <a:p>
            <a:pPr algn="ctr"/>
            <a:r>
              <a:t>Successfully handles real-world constraints while maintaining high fairness and preference satisfaction metrics.</a:t>
            </a:r>
          </a:p>
          <a:p>
            <a:pPr algn="ctr"/>
            <a:r>
              <a:t>Significantly reduces administrative overhead by eliminating manual allocation processes.</a:t>
            </a:r>
          </a:p>
          <a:p>
            <a:pPr algn="ctr"/>
            <a:r>
              <a:t>Scalable approach applicable to various educational contexts: universities, colleges, vocational institutes.</a:t>
            </a:r>
          </a:p>
          <a:p>
            <a:pPr algn="ctr"/>
            <a:r>
              <a:t>Demonstrated effectiveness through comprehensive testing with performance validation.</a:t>
            </a:r>
          </a:p>
          <a:p>
            <a:pPr algn="ctr"/>
            <a:r>
              <a:t>Production-ready for deployment in academic institutions of any scale.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t>Machine Learning: Integrate prediction models to forecast student preferences based on historical data.</a:t>
            </a:r>
          </a:p>
          <a:p>
            <a:pPr algn="ctr"/>
            <a:r>
              <a:t>Dynamic Allocation: Enable real-time preference updates allowing students to change choices before deadline.</a:t>
            </a:r>
          </a:p>
          <a:p>
            <a:pPr algn="ctr"/>
            <a:r>
              <a:t>Multi-objective Optimization: Balance student satisfaction with instructor workload distribution and fairness metrics.</a:t>
            </a:r>
          </a:p>
          <a:p>
            <a:pPr algn="ctr"/>
            <a:r>
              <a:t>Mobile Application: Develop dedicated app for students to view preferences and receive allocation results.</a:t>
            </a:r>
          </a:p>
          <a:p>
            <a:pPr algn="ctr"/>
            <a:r>
              <a:t>Cross-institutional Sharing: Extend to shared lab resources across multiple educational institutions.</a:t>
            </a:r>
          </a:p>
          <a:p>
            <a:pPr algn="ctr"/>
            <a:r>
              <a:t>Advanced Constraints: Support complex requirements like prerequisite chains, skill levels, and peer grouping preferences.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 smtClean="0"/>
              <a:t>Thank you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59</Words>
  <Application>Microsoft Office PowerPoint</Application>
  <PresentationFormat>Widescreen</PresentationFormat>
  <Paragraphs>25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Gautami</vt:lpstr>
      <vt:lpstr>Times New Roman</vt:lpstr>
      <vt:lpstr>Office Theme</vt:lpstr>
      <vt:lpstr>       Data Structures and Algorithms -3 (25CS2103E)  Title of the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ANITHA CHEKURI</cp:lastModifiedBy>
  <cp:revision>19</cp:revision>
  <dcterms:created xsi:type="dcterms:W3CDTF">2024-08-29T05:25:00Z</dcterms:created>
  <dcterms:modified xsi:type="dcterms:W3CDTF">2026-08-20T05:50:30Z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